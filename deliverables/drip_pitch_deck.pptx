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2cdebf3de4a7b" /><Relationship Type="http://schemas.openxmlformats.org/officeDocument/2006/relationships/extended-properties" Target="/docProps/app.xml" Id="Rcf3353981b19440d" /><Relationship Type="http://schemas.openxmlformats.org/officeDocument/2006/relationships/officeDocument" Target="/ppt/presentation.xml" Id="Rb9d117316908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0f0a8714844066"/>
  </p:sldMasterIdLst>
  <p:notesMasterIdLst>
    <p:notesMasterId xmlns:r="http://schemas.openxmlformats.org/officeDocument/2006/relationships" r:id="R1b519ab210bc421e"/>
  </p:notesMasterIdLst>
  <p:sldIdLst>
    <p:sldId xmlns:r="http://schemas.openxmlformats.org/officeDocument/2006/relationships" id="256" r:id="R8fa47cd5ee304d29"/>
    <p:sldId xmlns:r="http://schemas.openxmlformats.org/officeDocument/2006/relationships" id="257" r:id="R85b5e6869d8642c5"/>
    <p:sldId xmlns:r="http://schemas.openxmlformats.org/officeDocument/2006/relationships" id="258" r:id="R7b3c8d5465ae489e"/>
    <p:sldId xmlns:r="http://schemas.openxmlformats.org/officeDocument/2006/relationships" id="259" r:id="R44c4b99a86314737"/>
    <p:sldId xmlns:r="http://schemas.openxmlformats.org/officeDocument/2006/relationships" id="260" r:id="R2749a68a00c6494c"/>
    <p:sldId xmlns:r="http://schemas.openxmlformats.org/officeDocument/2006/relationships" id="261" r:id="Ra5d92061247e41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efc79f27849c6" /><Relationship Type="http://schemas.openxmlformats.org/officeDocument/2006/relationships/slideMaster" Target="/ppt/slideMasters/slideMaster1.xml" Id="Rd60f0a8714844066" /><Relationship Type="http://schemas.openxmlformats.org/officeDocument/2006/relationships/notesMaster" Target="/ppt/notesMasters/notesMaster1.xml" Id="R1b519ab210bc421e" /><Relationship Type="http://schemas.openxmlformats.org/officeDocument/2006/relationships/presProps" Target="/ppt/presProps.xml" Id="R3121cfc722814da5" /><Relationship Type="http://schemas.openxmlformats.org/officeDocument/2006/relationships/tableStyles" Target="/ppt/tableStyles.xml" Id="Rd11af8d56c4d4809" /><Relationship Type="http://schemas.openxmlformats.org/officeDocument/2006/relationships/slide" Target="/ppt/slides/slide1.xml" Id="R8fa47cd5ee304d29" /><Relationship Type="http://schemas.openxmlformats.org/officeDocument/2006/relationships/slide" Target="/ppt/slides/slide2.xml" Id="R85b5e6869d8642c5" /><Relationship Type="http://schemas.openxmlformats.org/officeDocument/2006/relationships/slide" Target="/ppt/slides/slide3.xml" Id="R7b3c8d5465ae489e" /><Relationship Type="http://schemas.openxmlformats.org/officeDocument/2006/relationships/slide" Target="/ppt/slides/slide4.xml" Id="R44c4b99a86314737" /><Relationship Type="http://schemas.openxmlformats.org/officeDocument/2006/relationships/slide" Target="/ppt/slides/slide5.xml" Id="R2749a68a00c6494c" /><Relationship Type="http://schemas.openxmlformats.org/officeDocument/2006/relationships/slide" Target="/ppt/slides/slide6.xml" Id="Ra5d92061247e41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18b613f2894b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ce3be611f54a41" /><Relationship Type="http://schemas.openxmlformats.org/officeDocument/2006/relationships/notesMaster" Target="/ppt/notesMasters/notesMaster1.xml" Id="Re00b7cc040bb40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d43de3fa1e4b3a" /><Relationship Type="http://schemas.openxmlformats.org/officeDocument/2006/relationships/notesMaster" Target="/ppt/notesMasters/notesMaster1.xml" Id="Re178de56e6844b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497243ba64061" /><Relationship Type="http://schemas.openxmlformats.org/officeDocument/2006/relationships/notesMaster" Target="/ppt/notesMasters/notesMaster1.xml" Id="R6d8bee54cccf4e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542c4224254d63" /><Relationship Type="http://schemas.openxmlformats.org/officeDocument/2006/relationships/notesMaster" Target="/ppt/notesMasters/notesMaster1.xml" Id="R1d5c78dbe4054b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a2dba8b4954cc0" /><Relationship Type="http://schemas.openxmlformats.org/officeDocument/2006/relationships/notesMaster" Target="/ppt/notesMasters/notesMaster1.xml" Id="R8865efdda8134a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3cd410b32b4e3e" /><Relationship Type="http://schemas.openxmlformats.org/officeDocument/2006/relationships/notesMaster" Target="/ppt/notesMasters/notesMaster1.xml" Id="R05dc3234045443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customer promise: Drip helps people move from inspiration to a complete fit and a protected purchase.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Drip website capture: deliverables/website-hero.png</a:t>
            </a:r>
          </a:p>
          <a:p xmlns:a="http://schemas.openxmlformats.org/drawingml/2006/main">
            <a:r>
              <a:t>- Internal Drip editorial asset: assets/editorial/drip_night_market_editorial_v3.jpg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gap as decision support. Drip connects discovery, advice, and commerce instead of treating them as separate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Drip product experience capture: deliverables/website-experience.png</a:t>
            </a:r>
          </a:p>
          <a:p xmlns:a="http://schemas.openxmlformats.org/drawingml/2006/main">
            <a:r>
              <a:t>- Internal product requirements and UX: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value is the continuity: discovery context informs the stylist, and the selected product moves into a transparent checkout.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two-minute walkthrough frames: deliverables/video_frames/frame-5.png, frame-25.png, frame-105.png</a:t>
            </a:r>
          </a:p>
          <a:p xmlns:a="http://schemas.openxmlformats.org/drawingml/2006/main">
            <a:r>
              <a:t>- Internal AI and checkout behavior: docs/TECHNICAL_DOCUMENTATION.md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split authority. Firestore serves marketplace catalog documents, while SQL preserves atomic identity, inventory, order, and payment invariants.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architecture capture: deliverables/website-launch.png</a:t>
            </a:r>
          </a:p>
          <a:p xmlns:a="http://schemas.openxmlformats.org/drawingml/2006/main">
            <a:r>
              <a:t>- Internal technical documentation: docs/TECHNICAL_DOCUMENTATION.md</a:t>
            </a:r>
          </a:p>
          <a:p xmlns:a="http://schemas.openxmlformats.org/drawingml/2006/main">
            <a:r>
              <a:t>- Internal backend setup and security boundaries: server/README.md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claim disciplined: the product contains four monetization mechanisms, but no market traction or revenue is claimed before a real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seller experience capture: deliverables/website-seller.png</a:t>
            </a:r>
          </a:p>
          <a:p xmlns:a="http://schemas.openxmlformats.org/drawingml/2006/main">
            <a:r>
              <a:t>- Internal business model: docs/BUSINESS_MODEL.md</a:t>
            </a:r>
          </a:p>
          <a:p xmlns:a="http://schemas.openxmlformats.org/drawingml/2006/main">
            <a:r>
              <a:t>- Internal commerce policy implementation: lib/commerce_model.dart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next decision: provide the owner credentials, deploy the backend, and run a measured pilot with a narrow customer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production roadmap: docs/PRODUCTION_ROADMAP.md</a:t>
            </a:r>
          </a:p>
          <a:p xmlns:a="http://schemas.openxmlformats.org/drawingml/2006/main">
            <a:r>
              <a:t>- Internal requirement mapping: docs/REQUIREMENTS_CHECKLIST.md</a:t>
            </a:r>
          </a:p>
          <a:p xmlns:a="http://schemas.openxmlformats.org/drawingml/2006/main">
            <a:r>
              <a:t>- Internal narrated demo: deliverables/drip_demo_2min.mp4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e4382a92449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28e89398064155" /><Relationship Type="http://schemas.openxmlformats.org/officeDocument/2006/relationships/slideLayout" Target="/ppt/slideLayouts/slideLayout1.xml" Id="Rffafe385933a4c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afe385933a4c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a50dedfa744ca" /><Relationship Type="http://schemas.openxmlformats.org/officeDocument/2006/relationships/image" Target="/ppt/media/image.jpeg" Id="R27e516ed60654fdc" /><Relationship Type="http://schemas.openxmlformats.org/officeDocument/2006/relationships/notesSlide" Target="/ppt/notesSlides/notesSlide1.xml" Id="R015b8969932f46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e91a53e0d4693" /><Relationship Type="http://schemas.openxmlformats.org/officeDocument/2006/relationships/image" Target="/ppt/media/image2.jpeg" Id="R54900d473b024fa3" /><Relationship Type="http://schemas.openxmlformats.org/officeDocument/2006/relationships/notesSlide" Target="/ppt/notesSlides/notesSlide2.xml" Id="Rba818bd78fb842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5a740c10043e6" /><Relationship Type="http://schemas.openxmlformats.org/officeDocument/2006/relationships/image" Target="/ppt/media/image.png" Id="R6f012bcc55244c43" /><Relationship Type="http://schemas.openxmlformats.org/officeDocument/2006/relationships/image" Target="/ppt/media/image2.png" Id="R99146e6c7bca4351" /><Relationship Type="http://schemas.openxmlformats.org/officeDocument/2006/relationships/image" Target="/ppt/media/image3.png" Id="R03930226d4374f1b" /><Relationship Type="http://schemas.openxmlformats.org/officeDocument/2006/relationships/notesSlide" Target="/ppt/notesSlides/notesSlide3.xml" Id="R248406cc818b44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db3317a02409a" /><Relationship Type="http://schemas.openxmlformats.org/officeDocument/2006/relationships/image" Target="/ppt/media/image3.jpeg" Id="Rc1936f1c1e924bb4" /><Relationship Type="http://schemas.openxmlformats.org/officeDocument/2006/relationships/notesSlide" Target="/ppt/notesSlides/notesSlide4.xml" Id="R17d65e70ad3b40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12ceffc5a49e4" /><Relationship Type="http://schemas.openxmlformats.org/officeDocument/2006/relationships/image" Target="/ppt/media/image4.jpeg" Id="R0f465b9b133447d4" /><Relationship Type="http://schemas.openxmlformats.org/officeDocument/2006/relationships/notesSlide" Target="/ppt/notesSlides/notesSlide5.xml" Id="R9991f725965347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9f90b5868410d" /><Relationship Type="http://schemas.openxmlformats.org/officeDocument/2006/relationships/notesSlide" Target="/ppt/notesSlides/notesSlide6.xml" Id="Rd527bd89016d46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516ed60654f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7151C-39B8-49FC-A860-AF5EBDD5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981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63A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33319-CDBA-4BFC-A285-93E01E16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0B10"/>
                </a:solidFill>
              </a:defRPr>
            </a:pPr>
            <a:r>
              <a:rPr sz="975" b="1">
                <a:solidFill>
                  <a:srgbClr val="080B10"/>
                </a:solidFill>
              </a:rPr>
              <a:t>DRIP / PRODUCT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43D86-1641-486C-BAE7-E8668873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962650"/>
            <a:ext cx="38862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B64E4-46D7-4389-841A-26B2F105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1245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AI-GUIDED FASHION MARKETPLACE</a:t>
            </a:r>
          </a:p>
        </p:txBody>
      </p:sp>
    </p:spTree>
    <p:extLst>
      <p:ext uri="{BB962C8B-B14F-4D97-AF65-F5344CB8AC3E}">
        <p14:creationId xmlns:p14="http://schemas.microsoft.com/office/powerpoint/2010/main" val="1476246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9B3FF-1558-4159-B3A3-B82CD8F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A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406C4-41A7-42EC-BD02-29B6BF8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0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0"/>
                </a:solidFill>
              </a:defRPr>
            </a:pPr>
            <a:r>
              <a:rPr sz="1050" b="1">
                <a:solidFill>
                  <a:srgbClr val="667080"/>
                </a:solidFill>
              </a:rPr>
              <a:t>THE CUSTOMER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E7E8B-129F-4B91-A022-7DDAD52C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504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80B10"/>
                </a:solidFill>
              </a:defRPr>
            </a:pPr>
            <a:r>
              <a:rPr sz="3675" b="1">
                <a:solidFill>
                  <a:srgbClr val="080B10"/>
                </a:solidFill>
              </a:rPr>
              <a:t>Products are easy.</a:t>
            </a:r>
          </a:p>
          <a:p xmlns:a="http://schemas.openxmlformats.org/drawingml/2006/main">
            <a:pPr>
              <a:defRPr sz="3675" b="1">
                <a:solidFill>
                  <a:srgbClr val="080B10"/>
                </a:solidFill>
              </a:defRPr>
            </a:pPr>
            <a:r>
              <a:rPr sz="3675" b="1">
                <a:solidFill>
                  <a:srgbClr val="080B10"/>
                </a:solidFill>
              </a:rPr>
              <a:t>Decisions are personal.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FE186-1D76-46D6-99CD-85375072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0"/>
                </a:solidFill>
              </a:defRPr>
            </a:pPr>
            <a:r>
              <a:rPr sz="1350" b="0">
                <a:solidFill>
                  <a:srgbClr val="667080"/>
                </a:solidFill>
              </a:rPr>
              <a:t>Resale discovery is visual, but the decision is personal: budget, fit, occasion, confidence, trust, and payment all happen in the same moment.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B1726-CD24-4365-A81D-5DD2B330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ADFF"/>
                </a:solidFill>
              </a:defRPr>
            </a:pPr>
            <a:r>
              <a:rPr sz="1050" b="1">
                <a:solidFill>
                  <a:srgbClr val="63ADFF"/>
                </a:solidFill>
              </a:rPr>
              <a:t>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E97B9-2B9F-46C9-B433-9129E20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767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0B10"/>
                </a:solidFill>
              </a:defRPr>
            </a:pPr>
            <a:r>
              <a:rPr sz="1425" b="1">
                <a:solidFill>
                  <a:srgbClr val="080B10"/>
                </a:solidFill>
              </a:rPr>
              <a:t>Editorial context, not a generic feed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D03E3-460A-4F08-9600-F2C6AFD5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ADFF"/>
                </a:solidFill>
              </a:defRPr>
            </a:pPr>
            <a:r>
              <a:rPr sz="1050" b="1">
                <a:solidFill>
                  <a:srgbClr val="63ADFF"/>
                </a:solidFill>
              </a:rPr>
              <a:t>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4DADD-6E33-4BEF-9D81-488BA14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482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0B10"/>
                </a:solidFill>
              </a:defRPr>
            </a:pPr>
            <a:r>
              <a:rPr sz="1425" b="1">
                <a:solidFill>
                  <a:srgbClr val="080B10"/>
                </a:solidFill>
              </a:rPr>
              <a:t>Professional answers to flexible style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8A515-9B42-411A-92E5-D5FAA4B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ADFF"/>
                </a:solidFill>
              </a:defRPr>
            </a:pPr>
            <a:r>
              <a:rPr sz="1050" b="1">
                <a:solidFill>
                  <a:srgbClr val="63ADFF"/>
                </a:solidFill>
              </a:rPr>
              <a:t>BUY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9CDB4-1B4A-4CB8-A3E1-5B31E626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197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0B10"/>
                </a:solidFill>
              </a:defRPr>
            </a:pPr>
            <a:r>
              <a:rPr sz="1425" b="1">
                <a:solidFill>
                  <a:srgbClr val="080B10"/>
                </a:solidFill>
              </a:rPr>
              <a:t>Server-verified totals and Stripe-hosted payment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00d473b024fa3"/>
          <a:stretch xmlns:a="http://schemas.openxmlformats.org/drawingml/2006/main"/>
        </p:blipFill>
        <p:spPr>
          <a:xfrm xmlns:a="http://schemas.openxmlformats.org/drawingml/2006/main">
            <a:off x="6156325" y="1047750"/>
            <a:ext cx="5384800" cy="3028950"/>
          </a:xfrm>
          <a:prstGeom xmlns:a="http://schemas.openxmlformats.org/drawingml/2006/main" prst="roundRect">
            <a:avLst>
              <a:gd name="adj" fmla="val 754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8787C-CAF2-4FA2-A14E-B19B3343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24350"/>
            <a:ext cx="539115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2261B-D9E9-4340-83A2-86D34218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Context earns attention.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Advice earns confidence.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827A5-0418-4D45-AF60-5085C7AB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DCBE4-CC82-402E-8B57-64236FB8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0"/>
                </a:solidFill>
              </a:defRPr>
            </a:pPr>
            <a:r>
              <a:rPr sz="975" b="1">
                <a:solidFill>
                  <a:srgbClr val="667080"/>
                </a:solidFill>
              </a:rPr>
              <a:t>CUSTOMER VALUE</a:t>
            </a:r>
          </a:p>
        </p:txBody>
      </p:sp>
    </p:spTree>
    <p:extLst>
      <p:ext uri="{BB962C8B-B14F-4D97-AF65-F5344CB8AC3E}">
        <p14:creationId xmlns:p14="http://schemas.microsoft.com/office/powerpoint/2010/main" val="1328976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81069-5B5D-4359-8B24-59D85DB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A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84F11-75A6-41CC-BD66-CA32EDCF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B0BC"/>
                </a:solidFill>
              </a:defRPr>
            </a:pPr>
            <a:r>
              <a:rPr sz="1050" b="1">
                <a:solidFill>
                  <a:srgbClr val="A8B0BC"/>
                </a:solidFill>
              </a:rPr>
              <a:t>ONE CONNECTED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1E6F3-A483-4F8E-82D2-6186B73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5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Inspiration becomes confidence—then checkout.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33087-EEE7-460F-8796-58D5A768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238500" cy="470535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934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2B40C-EA62-40F6-A366-123AF20A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01 / 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CB5C1-1780-4F9F-803C-75B9F1DB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Editorial + trust 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4268F-504B-40AC-B1EF-7087EA05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71750"/>
            <a:ext cx="1885950" cy="3676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29344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12bcc55244c43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" y="2667000"/>
            <a:ext cx="1714500" cy="37338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520CF-75D9-487A-A802-F26E077F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3238500" cy="470535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934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53A0A-807A-4A1D-A49C-9997BC91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145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02 / STYLE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54CE4-92A5-42CA-AA7A-A53E8EA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Budget-aware outfit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AF597-2FE0-4575-9D07-DDD971DE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885950" cy="3676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29344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46e6c7bca4351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95875" y="2667000"/>
            <a:ext cx="1714500" cy="37338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EDCAF-7D9D-428D-BB79-E63ABBB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238500" cy="4705350"/>
          </a:xfrm>
          <a:prstGeom xmlns:a="http://schemas.openxmlformats.org/drawingml/2006/main" prst="roundRect">
            <a:avLst>
              <a:gd name="adj" fmla="val 7647"/>
            </a:avLst>
          </a:prstGeom>
          <a:solidFill xmlns:a="http://schemas.openxmlformats.org/drawingml/2006/main">
            <a:srgbClr val="0D1727"/>
          </a:solidFill>
          <a:ln xmlns:a="http://schemas.openxmlformats.org/drawingml/2006/main" w="9525">
            <a:solidFill>
              <a:srgbClr val="2934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99E85-8867-499C-9228-3A5D6E4A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03 /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37644-B5C2-4526-B96D-6210D7C6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Verified Stripe totals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32C93-B36F-4F13-B70D-CADAA8DC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71750"/>
            <a:ext cx="1885950" cy="3676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293445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30226d4374f1b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2667000"/>
            <a:ext cx="1714500" cy="3733800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</p:spTree>
    <p:extLst>
      <p:ext uri="{BB962C8B-B14F-4D97-AF65-F5344CB8AC3E}">
        <p14:creationId xmlns:p14="http://schemas.microsoft.com/office/powerpoint/2010/main" val="398665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FF4D9-C595-4047-8A56-703F5335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A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D72F3-7CB6-4088-9CEF-0011A47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0"/>
                </a:solidFill>
              </a:defRPr>
            </a:pPr>
            <a:r>
              <a:rPr sz="1050" b="1">
                <a:solidFill>
                  <a:srgbClr val="667080"/>
                </a:solidFill>
              </a:rPr>
              <a:t>TRUST IS THE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15A09-DE80-4A8F-8FC7-EBF69CA5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0B10"/>
                </a:solidFill>
              </a:defRPr>
            </a:pPr>
            <a:r>
              <a:rPr sz="3225" b="1">
                <a:solidFill>
                  <a:srgbClr val="080B10"/>
                </a:solidFill>
              </a:rPr>
              <a:t>Private data stays private.</a:t>
            </a:r>
          </a:p>
          <a:p xmlns:a="http://schemas.openxmlformats.org/drawingml/2006/main">
            <a:pPr>
              <a:defRPr sz="3225" b="1">
                <a:solidFill>
                  <a:srgbClr val="080B10"/>
                </a:solidFill>
              </a:defRPr>
            </a:pPr>
            <a:r>
              <a:rPr sz="3225" b="1">
                <a:solidFill>
                  <a:srgbClr val="080B10"/>
                </a:solidFill>
              </a:rPr>
              <a:t>Payment authority stays off the client.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36f1c1e924bb4"/>
          <a:srcRect xmlns:a="http://schemas.openxmlformats.org/drawingml/2006/main" l="0" t="3508" r="0" b="3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71700"/>
            <a:ext cx="7029450" cy="3676650"/>
          </a:xfrm>
          <a:prstGeom xmlns:a="http://schemas.openxmlformats.org/drawingml/2006/main" prst="roundRect">
            <a:avLst>
              <a:gd name="adj" fmla="val 673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0E234-6F60-49B2-BFD5-A6E19B6C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93266-B134-4D40-A675-8375A253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B10"/>
                </a:solidFill>
              </a:defRPr>
            </a:pPr>
            <a:r>
              <a:rPr sz="1275" b="1">
                <a:solidFill>
                  <a:srgbClr val="080B10"/>
                </a:solidFill>
              </a:rPr>
              <a:t>EMAIL 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14D32-E3EE-45A6-91F4-F8FC3BB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050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Confirmation codes before account activation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060B4-7BD7-4450-9FE8-BEB4CC24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F3E56-DAB4-44C9-A7E3-307B6F8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B10"/>
                </a:solidFill>
              </a:defRPr>
            </a:pPr>
            <a:r>
              <a:rPr sz="1275" b="1">
                <a:solidFill>
                  <a:srgbClr val="080B10"/>
                </a:solidFill>
              </a:rPr>
              <a:t>SPLIT DATA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38850-F79D-4F96-98D3-9FAAA7C6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813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Firestore catalog; SQL for transactional truth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9272A-7867-44F9-8E43-9B9ED00A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905D4-0F4B-4731-8C73-C9867092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B10"/>
                </a:solidFill>
              </a:defRPr>
            </a:pPr>
            <a:r>
              <a:rPr sz="1275" b="1">
                <a:solidFill>
                  <a:srgbClr val="080B10"/>
                </a:solidFill>
              </a:rPr>
              <a:t>STRIPE HOSTED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16535-2A6C-4D3F-A77B-7AF713F7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576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No raw card details enter Drip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34872-FA43-4D22-AA43-ADE3ABFE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43FEA-F79C-4193-9473-E004AA16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387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B10"/>
                </a:solidFill>
              </a:defRPr>
            </a:pPr>
            <a:r>
              <a:rPr sz="1275" b="1">
                <a:solidFill>
                  <a:srgbClr val="080B10"/>
                </a:solidFill>
              </a:rPr>
              <a:t>WEBHOOK CONFIRMED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1D999-5718-41C7-88D0-78F836A9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339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Redirects never declare an order paid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03DA7-CD9D-4231-90CA-2149B8B4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3ADFF"/>
                </a:solidFill>
              </a:defRPr>
            </a:pPr>
            <a:r>
              <a:rPr sz="975" b="1">
                <a:solidFill>
                  <a:srgbClr val="63AD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02C58-6C6C-4B2E-8797-40C35154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38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0"/>
                </a:solidFill>
              </a:defRPr>
            </a:pPr>
            <a:r>
              <a:rPr sz="975" b="1">
                <a:solidFill>
                  <a:srgbClr val="667080"/>
                </a:solidFill>
              </a:rPr>
              <a:t>TRUST &amp;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68019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65b9b133447d4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BDB22-59F5-4376-AD19-36114F80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29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B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1446C-26FE-4804-9877-2332715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A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4F9B1-3F50-4574-BF6F-9F4E20B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B0BC"/>
                </a:solidFill>
              </a:defRPr>
            </a:pPr>
            <a:r>
              <a:rPr sz="1050" b="1">
                <a:solidFill>
                  <a:srgbClr val="A8B0BC"/>
                </a:solidFill>
              </a:rPr>
              <a:t>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D4512-6C1D-4554-9D15-89F74504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Four revenue paths grow with marketplace activity.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211A7-220B-4209-AE7E-412023F9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04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8D5FF"/>
                </a:solidFill>
              </a:defRPr>
            </a:pPr>
            <a:r>
              <a:rPr sz="5850" b="1">
                <a:solidFill>
                  <a:srgbClr val="A8D5FF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AD2F5-4316-48EC-BF93-74BCFA4F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8B0BC"/>
                </a:solidFill>
              </a:defRPr>
            </a:pPr>
            <a:r>
              <a:rPr sz="1125" b="1">
                <a:solidFill>
                  <a:srgbClr val="A8B0BC"/>
                </a:solidFill>
              </a:rPr>
              <a:t>MONETIZATION 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840D7-C7F0-444F-A97A-F1D3DE87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A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909CC-9A37-4B64-A465-58EAFBDE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Transaction fee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322A6-681A-4362-BEFE-8131450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0530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A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33C39-881A-49BA-820F-39BF58D3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386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Buyer protection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7F0FE-FA6F-47EF-87B6-D6BE766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3A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58164-FAA6-45F7-85A9-B41D8055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Listing boosts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959FA-2DB0-4520-BA2B-08A5BD0D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4825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D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EEC76-201B-4930-AD54-5B8C970D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8160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Drip Pro subscription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085B3-08A6-47A3-B912-ABE0DB16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0BC"/>
                </a:solidFill>
              </a:defRPr>
            </a:pPr>
            <a:r>
              <a:rPr sz="1200" b="0">
                <a:solidFill>
                  <a:srgbClr val="A8B0BC"/>
                </a:solidFill>
              </a:rPr>
              <a:t>No invented traction figures. The model is designed and instrumented; launch validation comes next.</a:t>
            </a:r>
          </a:p>
        </p:txBody>
      </p:sp>
    </p:spTree>
    <p:extLst>
      <p:ext uri="{BB962C8B-B14F-4D97-AF65-F5344CB8AC3E}">
        <p14:creationId xmlns:p14="http://schemas.microsoft.com/office/powerpoint/2010/main" val="94451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E33DA-D39B-47A8-993A-181117DD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A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8C287-70E4-4CC8-9BA7-1C47150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67080"/>
                </a:solidFill>
              </a:defRPr>
            </a:pPr>
            <a:r>
              <a:rPr sz="1050" b="1">
                <a:solidFill>
                  <a:srgbClr val="667080"/>
                </a:solidFill>
              </a:rPr>
              <a:t>THE LAUNCH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30EA3-8E71-4046-B43B-321A3553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7810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0B10"/>
                </a:solidFill>
              </a:defRPr>
            </a:pPr>
            <a:r>
              <a:rPr sz="3600" b="1">
                <a:solidFill>
                  <a:srgbClr val="080B10"/>
                </a:solidFill>
              </a:rPr>
              <a:t>The product is built.</a:t>
            </a:r>
          </a:p>
          <a:p xmlns:a="http://schemas.openxmlformats.org/drawingml/2006/main">
            <a:pPr>
              <a:defRPr sz="3600" b="1">
                <a:solidFill>
                  <a:srgbClr val="080B10"/>
                </a:solidFill>
              </a:defRPr>
            </a:pPr>
            <a:r>
              <a:rPr sz="3600" b="1">
                <a:solidFill>
                  <a:srgbClr val="080B10"/>
                </a:solidFill>
              </a:rPr>
              <a:t>Production credentials unlock the market.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6F7EE-02F0-4BD0-8B8C-B0163E01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080"/>
                </a:solidFill>
              </a:defRPr>
            </a:pPr>
            <a:r>
              <a:rPr sz="1575" b="0">
                <a:solidFill>
                  <a:srgbClr val="667080"/>
                </a:solidFill>
              </a:rPr>
              <a:t>Seeking a launch partner and a focused beta community of sellers and style-conscious shoppers.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62B4A-97BA-4A1B-93E3-382E3D79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80B10"/>
          </a:solidFill>
          <a:ln xmlns:a="http://schemas.openxmlformats.org/drawingml/2006/main" w="9525">
            <a:solidFill>
              <a:srgbClr val="080B1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659C0-271F-4E34-9B7D-285F9335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ADFF"/>
                </a:solidFill>
              </a:defRPr>
            </a:pPr>
            <a:r>
              <a:rPr sz="1050" b="1">
                <a:solidFill>
                  <a:srgbClr val="63A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E31C6-E81A-480F-9328-35B846EE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C1D46-7F69-416E-ABDC-7E6BA32C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0BC"/>
                </a:solidFill>
              </a:defRPr>
            </a:pPr>
            <a:r>
              <a:rPr sz="1350" b="0">
                <a:solidFill>
                  <a:srgbClr val="A8B0BC"/>
                </a:solidFill>
              </a:rPr>
              <a:t>Owner Firebase, Stripe, Resend, and OpenAI production credentials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96B89-1420-46C3-B921-F5FB4E8B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32385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6BD8-2952-4C7C-9A12-FF8037E0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ADFF"/>
                </a:solidFill>
              </a:defRPr>
            </a:pPr>
            <a:r>
              <a:rPr sz="1050" b="1">
                <a:solidFill>
                  <a:srgbClr val="63A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F3BE1-55A4-4BC0-8B13-9C9698A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05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0B10"/>
                </a:solidFill>
              </a:defRPr>
            </a:pPr>
            <a:r>
              <a:rPr sz="1875" b="1">
                <a:solidFill>
                  <a:srgbClr val="080B10"/>
                </a:solidFill>
              </a:rPr>
              <a:t>DEPLOY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5AA93-D616-4859-9219-9AB5CE7A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434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0"/>
                </a:solidFill>
              </a:defRPr>
            </a:pPr>
            <a:r>
              <a:rPr sz="1350" b="0">
                <a:solidFill>
                  <a:srgbClr val="667080"/>
                </a:solidFill>
              </a:rPr>
              <a:t>Backend API, webhooks, real inventory, monitoring, and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FF101-36DE-4AAF-AB14-F2688128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2385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1B76D-0043-46C5-B2FF-43233D61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3ADFF"/>
                </a:solidFill>
              </a:defRPr>
            </a:pPr>
            <a:r>
              <a:rPr sz="1050" b="1">
                <a:solidFill>
                  <a:srgbClr val="63AD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B467E-A1D1-4543-B284-F3A7ADAF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0B10"/>
                </a:solidFill>
              </a:defRPr>
            </a:pPr>
            <a:r>
              <a:rPr sz="1875" b="1">
                <a:solidFill>
                  <a:srgbClr val="080B10"/>
                </a:solidFill>
              </a:rPr>
              <a:t>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FD25B-8ED4-4B91-95ED-695E30A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434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0"/>
                </a:solidFill>
              </a:defRPr>
            </a:pPr>
            <a:r>
              <a:rPr sz="1350" b="0">
                <a:solidFill>
                  <a:srgbClr val="667080"/>
                </a:solidFill>
              </a:rPr>
              <a:t>Invite sellers, observe conversion, and validate the revenue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2C20B-58E5-4843-9E5C-0DCDBE7C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63A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7B602-1194-4877-831A-64125822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0B10"/>
                </a:solidFill>
              </a:defRPr>
            </a:pPr>
            <a:r>
              <a:rPr sz="1275" b="1">
                <a:solidFill>
                  <a:srgbClr val="080B10"/>
                </a:solidFill>
              </a:rPr>
              <a:t>TWO-MINUTE NARRATED PRODUCT WALKTHROUGH INCLUDED WITH THIS SUBMISSION</a:t>
            </a:r>
          </a:p>
        </p:txBody>
      </p:sp>
    </p:spTree>
    <p:extLst>
      <p:ext uri="{BB962C8B-B14F-4D97-AF65-F5344CB8AC3E}">
        <p14:creationId xmlns:p14="http://schemas.microsoft.com/office/powerpoint/2010/main" val="1327823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2026-07-28T17:59:46.5030000Z</dcterms:created>
  <dcterms:modified xsi:type="dcterms:W3CDTF">2026-07-28T17:59:46.5030000Z</dcterms:modified>
</coreProperties>
</file>